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3" r:id="rId7"/>
    <p:sldId id="261" r:id="rId8"/>
    <p:sldId id="262"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1A3AF6E6-1FE8-4FBD-A39B-FA3CAE2B8C97}">
          <p14:sldIdLst>
            <p14:sldId id="256"/>
            <p14:sldId id="257"/>
            <p14:sldId id="258"/>
            <p14:sldId id="259"/>
          </p14:sldIdLst>
        </p14:section>
        <p14:section name="Sección sin título" id="{D8BFC306-706E-42CD-8E7E-BD0E6938805F}">
          <p14:sldIdLst>
            <p14:sldId id="260"/>
            <p14:sldId id="263"/>
            <p14:sldId id="261"/>
            <p14:sldId id="262"/>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A87A34-81AB-432B-8DAE-1953F412C126}" type="datetimeFigureOut">
              <a:rPr lang="en-US" dirty="0"/>
              <a:t>1/24/2018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1/24/2018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1/24/2018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1/24/2018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1/24/2018</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1/24/2018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1/24/2018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1/24/2018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1/24/2018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smtClean="0"/>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1/24/2018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1/24/2018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smtClean="0"/>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1/24/2018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smtClean="0"/>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1/24/2018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1/24/2018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1/24/2018</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PE" dirty="0" smtClean="0">
                <a:latin typeface="CF One Two Trees" pitchFamily="2" charset="0"/>
              </a:rPr>
              <a:t>POLIMORFISMO, FUNCION VIRTUAL Y LIGADURA DINÁMICA</a:t>
            </a:r>
            <a:endParaRPr lang="es-ES" dirty="0">
              <a:latin typeface="CF One Two Trees" pitchFamily="2" charset="0"/>
            </a:endParaRPr>
          </a:p>
        </p:txBody>
      </p:sp>
      <p:sp>
        <p:nvSpPr>
          <p:cNvPr id="3" name="Subtítulo 2"/>
          <p:cNvSpPr>
            <a:spLocks noGrp="1"/>
          </p:cNvSpPr>
          <p:nvPr>
            <p:ph type="subTitle" idx="1"/>
          </p:nvPr>
        </p:nvSpPr>
        <p:spPr>
          <a:xfrm>
            <a:off x="6096000" y="5002306"/>
            <a:ext cx="5930601" cy="1344705"/>
          </a:xfrm>
        </p:spPr>
        <p:txBody>
          <a:bodyPr>
            <a:normAutofit fontScale="85000" lnSpcReduction="20000"/>
          </a:bodyPr>
          <a:lstStyle/>
          <a:p>
            <a:pPr algn="l"/>
            <a:r>
              <a:rPr lang="es-PE" dirty="0" smtClean="0"/>
              <a:t>Expositores:</a:t>
            </a:r>
          </a:p>
          <a:p>
            <a:r>
              <a:rPr lang="es-PE" dirty="0" smtClean="0"/>
              <a:t>Dennis </a:t>
            </a:r>
            <a:r>
              <a:rPr lang="es-PE" dirty="0" err="1" smtClean="0"/>
              <a:t>Marcell</a:t>
            </a:r>
            <a:r>
              <a:rPr lang="es-PE" dirty="0" smtClean="0"/>
              <a:t> Sumiri </a:t>
            </a:r>
            <a:r>
              <a:rPr lang="es-PE" dirty="0" err="1" smtClean="0"/>
              <a:t>Fernandez</a:t>
            </a:r>
            <a:endParaRPr lang="es-PE" dirty="0" smtClean="0"/>
          </a:p>
          <a:p>
            <a:r>
              <a:rPr lang="es-PE" dirty="0" smtClean="0"/>
              <a:t>Fabricio Martin Baca Portugal</a:t>
            </a:r>
            <a:endParaRPr lang="es-ES" dirty="0"/>
          </a:p>
        </p:txBody>
      </p:sp>
    </p:spTree>
    <p:extLst>
      <p:ext uri="{BB962C8B-B14F-4D97-AF65-F5344CB8AC3E}">
        <p14:creationId xmlns:p14="http://schemas.microsoft.com/office/powerpoint/2010/main" val="2148629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lang="es-PE" dirty="0" smtClean="0"/>
              <a:t>1. polimorfismo</a:t>
            </a:r>
            <a:endParaRPr lang="es-ES" dirty="0"/>
          </a:p>
        </p:txBody>
      </p:sp>
      <p:pic>
        <p:nvPicPr>
          <p:cNvPr id="7" name="Marcador de contenido 6"/>
          <p:cNvPicPr>
            <a:picLocks noGrp="1" noChangeAspect="1"/>
          </p:cNvPicPr>
          <p:nvPr>
            <p:ph idx="1"/>
          </p:nvPr>
        </p:nvPicPr>
        <p:blipFill>
          <a:blip r:embed="rId2"/>
          <a:stretch>
            <a:fillRect/>
          </a:stretch>
        </p:blipFill>
        <p:spPr>
          <a:xfrm>
            <a:off x="2837330" y="1535264"/>
            <a:ext cx="6078069" cy="5232327"/>
          </a:xfrm>
          <a:prstGeom prst="rect">
            <a:avLst/>
          </a:prstGeom>
        </p:spPr>
      </p:pic>
    </p:spTree>
    <p:extLst>
      <p:ext uri="{BB962C8B-B14F-4D97-AF65-F5344CB8AC3E}">
        <p14:creationId xmlns:p14="http://schemas.microsoft.com/office/powerpoint/2010/main" val="42226420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lang="es-PE" dirty="0" smtClean="0"/>
              <a:t>2. Ligadura</a:t>
            </a:r>
            <a:endParaRPr lang="es-ES" dirty="0"/>
          </a:p>
        </p:txBody>
      </p:sp>
      <p:sp>
        <p:nvSpPr>
          <p:cNvPr id="3" name="Marcador de contenido 2"/>
          <p:cNvSpPr>
            <a:spLocks noGrp="1"/>
          </p:cNvSpPr>
          <p:nvPr>
            <p:ph idx="1"/>
          </p:nvPr>
        </p:nvSpPr>
        <p:spPr>
          <a:xfrm>
            <a:off x="1115501" y="2889441"/>
            <a:ext cx="10353762" cy="2085971"/>
          </a:xfrm>
        </p:spPr>
        <p:txBody>
          <a:bodyPr/>
          <a:lstStyle/>
          <a:p>
            <a:r>
              <a:rPr lang="es-PE" dirty="0" smtClean="0"/>
              <a:t>Ligadura se le conoce al acto de conectar una llamada de una función al cuerpo de la función, por lo general se da antes de ejecutar el programa.</a:t>
            </a:r>
          </a:p>
          <a:p>
            <a:r>
              <a:rPr lang="es-PE" dirty="0" smtClean="0"/>
              <a:t>Esta ligadura temprana genera un problema en el código mostrado, puesto que el compilador no sabe que función debe llamar y tomara la primera que encuentre.</a:t>
            </a:r>
            <a:endParaRPr lang="es-ES" dirty="0"/>
          </a:p>
        </p:txBody>
      </p:sp>
    </p:spTree>
    <p:extLst>
      <p:ext uri="{BB962C8B-B14F-4D97-AF65-F5344CB8AC3E}">
        <p14:creationId xmlns:p14="http://schemas.microsoft.com/office/powerpoint/2010/main" val="2415705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9577" y="273423"/>
            <a:ext cx="5971099" cy="694765"/>
          </a:xfrm>
        </p:spPr>
        <p:txBody>
          <a:bodyPr>
            <a:normAutofit/>
          </a:bodyPr>
          <a:lstStyle/>
          <a:p>
            <a:pPr marL="981075" algn="l"/>
            <a:r>
              <a:rPr lang="es-PE" sz="2400" dirty="0" smtClean="0"/>
              <a:t>2.1 ligadura dinámica</a:t>
            </a:r>
            <a:endParaRPr lang="es-ES" sz="2400" dirty="0"/>
          </a:p>
        </p:txBody>
      </p:sp>
      <p:sp>
        <p:nvSpPr>
          <p:cNvPr id="3" name="Marcador de contenido 2"/>
          <p:cNvSpPr>
            <a:spLocks noGrp="1"/>
          </p:cNvSpPr>
          <p:nvPr>
            <p:ph idx="1"/>
          </p:nvPr>
        </p:nvSpPr>
        <p:spPr>
          <a:xfrm>
            <a:off x="806219" y="1275793"/>
            <a:ext cx="10353762" cy="3695136"/>
          </a:xfrm>
        </p:spPr>
        <p:txBody>
          <a:bodyPr>
            <a:normAutofit fontScale="92500" lnSpcReduction="20000"/>
          </a:bodyPr>
          <a:lstStyle/>
          <a:p>
            <a:r>
              <a:rPr lang="es-PE" dirty="0" smtClean="0"/>
              <a:t>Este tipo de ligadura se produce en tiempo de ejecución del código y debe tener algún mecanismo que nos permita determinar el tipo de objeto y llamar a su respectiva función miembro.</a:t>
            </a:r>
          </a:p>
          <a:p>
            <a:endParaRPr lang="es-PE" dirty="0"/>
          </a:p>
          <a:p>
            <a:r>
              <a:rPr lang="es-PE" dirty="0" smtClean="0"/>
              <a:t>Para que nosotros le indiquemos al compilador que no realice ligadura estática se debe de usar la palabra reservada “virtual” la cual le dirá al compilador que debe realizar ligadura en tiempo de ejecución.</a:t>
            </a:r>
          </a:p>
          <a:p>
            <a:endParaRPr lang="es-PE" dirty="0" smtClean="0"/>
          </a:p>
          <a:p>
            <a:r>
              <a:rPr lang="es-PE" dirty="0" smtClean="0"/>
              <a:t>En este tipo de ligadura el compilador crea </a:t>
            </a:r>
            <a:r>
              <a:rPr lang="es-PE" dirty="0" err="1" smtClean="0"/>
              <a:t>vtables</a:t>
            </a:r>
            <a:r>
              <a:rPr lang="es-PE" dirty="0" smtClean="0"/>
              <a:t> y </a:t>
            </a:r>
            <a:r>
              <a:rPr lang="es-PE" dirty="0" err="1" smtClean="0"/>
              <a:t>vptrs</a:t>
            </a:r>
            <a:r>
              <a:rPr lang="es-PE" dirty="0" smtClean="0"/>
              <a:t> por cada función declarada como virtual</a:t>
            </a:r>
            <a:endParaRPr lang="es-ES" dirty="0"/>
          </a:p>
        </p:txBody>
      </p:sp>
    </p:spTree>
    <p:extLst>
      <p:ext uri="{BB962C8B-B14F-4D97-AF65-F5344CB8AC3E}">
        <p14:creationId xmlns:p14="http://schemas.microsoft.com/office/powerpoint/2010/main" val="21791623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604275" y="1322437"/>
            <a:ext cx="5486400" cy="4872174"/>
          </a:xfrm>
          <a:prstGeom prst="rect">
            <a:avLst/>
          </a:prstGeom>
        </p:spPr>
      </p:pic>
      <p:sp>
        <p:nvSpPr>
          <p:cNvPr id="5" name="Título 4"/>
          <p:cNvSpPr>
            <a:spLocks noGrp="1"/>
          </p:cNvSpPr>
          <p:nvPr>
            <p:ph type="title"/>
          </p:nvPr>
        </p:nvSpPr>
        <p:spPr>
          <a:xfrm>
            <a:off x="604275" y="434789"/>
            <a:ext cx="6293829" cy="788894"/>
          </a:xfrm>
        </p:spPr>
        <p:txBody>
          <a:bodyPr/>
          <a:lstStyle/>
          <a:p>
            <a:pPr algn="l"/>
            <a:r>
              <a:rPr lang="es-PE" dirty="0" smtClean="0"/>
              <a:t>3. Funciones virtuales</a:t>
            </a:r>
            <a:endParaRPr lang="es-ES" dirty="0"/>
          </a:p>
        </p:txBody>
      </p:sp>
      <p:sp>
        <p:nvSpPr>
          <p:cNvPr id="6" name="Marcador de contenido 2"/>
          <p:cNvSpPr txBox="1">
            <a:spLocks/>
          </p:cNvSpPr>
          <p:nvPr/>
        </p:nvSpPr>
        <p:spPr>
          <a:xfrm>
            <a:off x="6373906" y="1604825"/>
            <a:ext cx="5472241" cy="392191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a:lstStyle>
          <a:p>
            <a:r>
              <a:rPr lang="es-PE" dirty="0" smtClean="0"/>
              <a:t>Para que la ligadura dinámica funcione se necesita la palabra reservada “virtual”</a:t>
            </a:r>
          </a:p>
          <a:p>
            <a:r>
              <a:rPr lang="es-PE" dirty="0" smtClean="0"/>
              <a:t>En el siguiente código en nuestra clase base declaramos la función miembro </a:t>
            </a:r>
            <a:r>
              <a:rPr lang="es-PE" dirty="0" err="1" smtClean="0"/>
              <a:t>play</a:t>
            </a:r>
            <a:r>
              <a:rPr lang="es-PE" dirty="0" smtClean="0"/>
              <a:t> como virtual, </a:t>
            </a:r>
            <a:r>
              <a:rPr lang="es-PE" dirty="0"/>
              <a:t> </a:t>
            </a:r>
            <a:r>
              <a:rPr lang="es-PE" dirty="0" smtClean="0"/>
              <a:t>redefinir una función como virtual se le conoce como </a:t>
            </a:r>
            <a:r>
              <a:rPr lang="es-PE" dirty="0" err="1" smtClean="0"/>
              <a:t>overriding</a:t>
            </a:r>
            <a:r>
              <a:rPr lang="es-PE" dirty="0" smtClean="0"/>
              <a:t>.</a:t>
            </a:r>
          </a:p>
          <a:p>
            <a:r>
              <a:rPr lang="es-PE" dirty="0" smtClean="0"/>
              <a:t>Con la función </a:t>
            </a:r>
            <a:r>
              <a:rPr lang="es-PE" dirty="0" err="1" smtClean="0"/>
              <a:t>play</a:t>
            </a:r>
            <a:r>
              <a:rPr lang="es-PE" dirty="0" smtClean="0"/>
              <a:t> definida como virtual, se podría agregar otras clases que deriven de la clase </a:t>
            </a:r>
            <a:r>
              <a:rPr lang="es-PE" dirty="0" err="1" smtClean="0"/>
              <a:t>wind</a:t>
            </a:r>
            <a:r>
              <a:rPr lang="es-PE" dirty="0" smtClean="0"/>
              <a:t> y que usen su propia implementación de </a:t>
            </a:r>
            <a:r>
              <a:rPr lang="es-PE" dirty="0" err="1" smtClean="0"/>
              <a:t>play</a:t>
            </a:r>
            <a:endParaRPr lang="es-ES" dirty="0"/>
          </a:p>
        </p:txBody>
      </p:sp>
    </p:spTree>
    <p:extLst>
      <p:ext uri="{BB962C8B-B14F-4D97-AF65-F5344CB8AC3E}">
        <p14:creationId xmlns:p14="http://schemas.microsoft.com/office/powerpoint/2010/main" val="40167064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68336" y="213477"/>
            <a:ext cx="5137381" cy="526112"/>
          </a:xfrm>
        </p:spPr>
        <p:txBody>
          <a:bodyPr/>
          <a:lstStyle/>
          <a:p>
            <a:pPr>
              <a:buFont typeface="Wingdings" panose="05000000000000000000" pitchFamily="2" charset="2"/>
              <a:buChar char="v"/>
            </a:pPr>
            <a:r>
              <a:rPr lang="es-PE" dirty="0" smtClean="0"/>
              <a:t>Entonces podemos hacer esto:</a:t>
            </a:r>
            <a:endParaRPr lang="es-ES" dirty="0"/>
          </a:p>
        </p:txBody>
      </p:sp>
      <p:pic>
        <p:nvPicPr>
          <p:cNvPr id="5" name="Imagen 4"/>
          <p:cNvPicPr>
            <a:picLocks noChangeAspect="1"/>
          </p:cNvPicPr>
          <p:nvPr/>
        </p:nvPicPr>
        <p:blipFill>
          <a:blip r:embed="rId2"/>
          <a:stretch>
            <a:fillRect/>
          </a:stretch>
        </p:blipFill>
        <p:spPr>
          <a:xfrm>
            <a:off x="395287" y="837639"/>
            <a:ext cx="6074106" cy="5576608"/>
          </a:xfrm>
          <a:prstGeom prst="rect">
            <a:avLst/>
          </a:prstGeom>
        </p:spPr>
      </p:pic>
      <p:pic>
        <p:nvPicPr>
          <p:cNvPr id="6" name="Imagen 5"/>
          <p:cNvPicPr>
            <a:picLocks noChangeAspect="1"/>
          </p:cNvPicPr>
          <p:nvPr/>
        </p:nvPicPr>
        <p:blipFill rotWithShape="1">
          <a:blip r:embed="rId3"/>
          <a:srcRect t="9148"/>
          <a:stretch/>
        </p:blipFill>
        <p:spPr>
          <a:xfrm>
            <a:off x="6925236" y="837639"/>
            <a:ext cx="4934843" cy="5576608"/>
          </a:xfrm>
          <a:prstGeom prst="rect">
            <a:avLst/>
          </a:prstGeom>
        </p:spPr>
      </p:pic>
    </p:spTree>
    <p:extLst>
      <p:ext uri="{BB962C8B-B14F-4D97-AF65-F5344CB8AC3E}">
        <p14:creationId xmlns:p14="http://schemas.microsoft.com/office/powerpoint/2010/main" val="6498371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lang="es-PE" dirty="0" err="1" smtClean="0"/>
              <a:t>Vptr</a:t>
            </a:r>
            <a:r>
              <a:rPr lang="es-PE" dirty="0" smtClean="0"/>
              <a:t>:</a:t>
            </a:r>
            <a:endParaRPr lang="es-ES" dirty="0"/>
          </a:p>
        </p:txBody>
      </p:sp>
      <p:sp>
        <p:nvSpPr>
          <p:cNvPr id="3" name="Marcador de contenido 2"/>
          <p:cNvSpPr>
            <a:spLocks noGrp="1"/>
          </p:cNvSpPr>
          <p:nvPr>
            <p:ph idx="1"/>
          </p:nvPr>
        </p:nvSpPr>
        <p:spPr/>
        <p:txBody>
          <a:bodyPr/>
          <a:lstStyle/>
          <a:p>
            <a:r>
              <a:rPr lang="es-PE" dirty="0" err="1" smtClean="0"/>
              <a:t>Vptr</a:t>
            </a:r>
            <a:r>
              <a:rPr lang="es-PE" dirty="0" smtClean="0"/>
              <a:t> es un puntero oculto agregado por el compilador a la clase base, el cual apuntara a la tabla virtual de esa clase en particular.</a:t>
            </a:r>
          </a:p>
          <a:p>
            <a:r>
              <a:rPr lang="es-PE" dirty="0" smtClean="0"/>
              <a:t>Este </a:t>
            </a:r>
            <a:r>
              <a:rPr lang="es-PE" dirty="0" err="1" smtClean="0"/>
              <a:t>vptr</a:t>
            </a:r>
            <a:r>
              <a:rPr lang="es-PE" dirty="0" smtClean="0"/>
              <a:t> también se hereda para las clases derivadas que se creen a partir de la clase base.</a:t>
            </a:r>
          </a:p>
          <a:p>
            <a:r>
              <a:rPr lang="es-ES" dirty="0"/>
              <a:t>La llamada </a:t>
            </a:r>
            <a:r>
              <a:rPr lang="es-ES" dirty="0" smtClean="0"/>
              <a:t>a una </a:t>
            </a:r>
            <a:r>
              <a:rPr lang="es-ES" dirty="0"/>
              <a:t>función virtual por un objeto se resuelve siguiendo este </a:t>
            </a:r>
            <a:r>
              <a:rPr lang="es-ES" dirty="0" err="1" smtClean="0"/>
              <a:t>vptr</a:t>
            </a:r>
            <a:r>
              <a:rPr lang="es-ES" dirty="0" smtClean="0"/>
              <a:t> </a:t>
            </a:r>
            <a:r>
              <a:rPr lang="es-ES" dirty="0"/>
              <a:t>oculto.</a:t>
            </a:r>
          </a:p>
        </p:txBody>
      </p:sp>
    </p:spTree>
    <p:extLst>
      <p:ext uri="{BB962C8B-B14F-4D97-AF65-F5344CB8AC3E}">
        <p14:creationId xmlns:p14="http://schemas.microsoft.com/office/powerpoint/2010/main" val="21578515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l"/>
            <a:r>
              <a:rPr lang="es-PE" dirty="0" err="1" smtClean="0"/>
              <a:t>Vtable</a:t>
            </a:r>
            <a:endParaRPr lang="es-ES" dirty="0"/>
          </a:p>
        </p:txBody>
      </p:sp>
      <p:sp>
        <p:nvSpPr>
          <p:cNvPr id="3" name="Marcador de contenido 2"/>
          <p:cNvSpPr>
            <a:spLocks noGrp="1"/>
          </p:cNvSpPr>
          <p:nvPr>
            <p:ph idx="1"/>
          </p:nvPr>
        </p:nvSpPr>
        <p:spPr/>
        <p:txBody>
          <a:bodyPr/>
          <a:lstStyle/>
          <a:p>
            <a:r>
              <a:rPr lang="es-PE" dirty="0" smtClean="0"/>
              <a:t>Cada clase que usa funciones virtuales recibe su propia tabla virtual como miembro de datos secretos . Esta tabla virtual es una tabla de búsqueda de punteros de función utilizado para vincular dinámicamente las funciones virtuales a los objetos en tiempo de ejecución.</a:t>
            </a:r>
          </a:p>
          <a:p>
            <a:r>
              <a:rPr lang="es-PE" dirty="0" smtClean="0"/>
              <a:t>No esta destinado a ser utilizado exactamente por el programa, por lo que no hay una forma estandarizada de acceder a él.</a:t>
            </a:r>
          </a:p>
          <a:p>
            <a:r>
              <a:rPr lang="es-PE" dirty="0" smtClean="0"/>
              <a:t>Esta tabla esta configurada por el compilador en tiempo de ejecución.</a:t>
            </a:r>
          </a:p>
        </p:txBody>
      </p:sp>
    </p:spTree>
    <p:extLst>
      <p:ext uri="{BB962C8B-B14F-4D97-AF65-F5344CB8AC3E}">
        <p14:creationId xmlns:p14="http://schemas.microsoft.com/office/powerpoint/2010/main" val="20231105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300" y="479180"/>
            <a:ext cx="10042991" cy="5773703"/>
          </a:xfrm>
        </p:spPr>
      </p:pic>
    </p:spTree>
    <p:extLst>
      <p:ext uri="{BB962C8B-B14F-4D97-AF65-F5344CB8AC3E}">
        <p14:creationId xmlns:p14="http://schemas.microsoft.com/office/powerpoint/2010/main" val="37698704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Damasco</Template>
  <TotalTime>139</TotalTime>
  <Words>393</Words>
  <Application>Microsoft Office PowerPoint</Application>
  <PresentationFormat>Panorámica</PresentationFormat>
  <Paragraphs>27</Paragraphs>
  <Slides>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9</vt:i4>
      </vt:variant>
    </vt:vector>
  </HeadingPairs>
  <TitlesOfParts>
    <vt:vector size="15" baseType="lpstr">
      <vt:lpstr>Arial</vt:lpstr>
      <vt:lpstr>Bookman Old Style</vt:lpstr>
      <vt:lpstr>CF One Two Trees</vt:lpstr>
      <vt:lpstr>Rockwell</vt:lpstr>
      <vt:lpstr>Wingdings</vt:lpstr>
      <vt:lpstr>Damask</vt:lpstr>
      <vt:lpstr>POLIMORFISMO, FUNCION VIRTUAL Y LIGADURA DINÁMICA</vt:lpstr>
      <vt:lpstr>1. polimorfismo</vt:lpstr>
      <vt:lpstr>2. Ligadura</vt:lpstr>
      <vt:lpstr>2.1 ligadura dinámica</vt:lpstr>
      <vt:lpstr>3. Funciones virtuales</vt:lpstr>
      <vt:lpstr>Presentación de PowerPoint</vt:lpstr>
      <vt:lpstr>Vptr:</vt:lpstr>
      <vt:lpstr>Vtable</vt:lpstr>
      <vt:lpstr>Presentación de PowerPoint</vt:lpstr>
    </vt:vector>
  </TitlesOfParts>
  <Company>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POLIMORFISMO, FUNCION VIRTUAL Y LIGADURA DINÁMICA</dc:title>
  <dc:creator>Full name</dc:creator>
  <cp:lastModifiedBy>Full name</cp:lastModifiedBy>
  <cp:revision>8</cp:revision>
  <dcterms:created xsi:type="dcterms:W3CDTF">2018-01-25T02:05:28Z</dcterms:created>
  <dcterms:modified xsi:type="dcterms:W3CDTF">2018-01-25T04:24:32Z</dcterms:modified>
</cp:coreProperties>
</file>